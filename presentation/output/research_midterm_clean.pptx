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9" r:id="rId2"/>
  </p:sldMasterIdLst>
  <p:notesMasterIdLst>
    <p:notesMasterId r:id="rId6"/>
  </p:notesMasterIdLst>
  <p:handoutMasterIdLst>
    <p:handoutMasterId r:id="rId7"/>
  </p:handoutMasterIdLst>
  <p:sldIdLst>
    <p:sldId id="264" r:id="rId3"/>
    <p:sldId id="265" r:id="rId5"/>
    <p:sldId id="266" r:id="rId4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951169"/>
    <a:srgbClr val="FEFEFE"/>
    <a:srgbClr val="898989"/>
    <a:srgbClr val="B90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14" autoAdjust="0"/>
    <p:restoredTop sz="96247" autoAdjust="0"/>
  </p:normalViewPr>
  <p:slideViewPr>
    <p:cSldViewPr showGuides="1">
      <p:cViewPr varScale="1">
        <p:scale>
          <a:sx n="106" d="100"/>
          <a:sy n="106" d="100"/>
        </p:scale>
        <p:origin x="546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360000" cy="36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A78A55-3702-A9DD-485B-6C2348BAE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903E01-EAFE-473E-9404-4EBCA1BD0397}" type="datetime1">
              <a:rPr lang="de-DE" smtClean="0">
                <a:solidFill>
                  <a:srgbClr val="898989"/>
                </a:solidFill>
              </a:rPr>
              <a:t>06.03.2026</a:t>
            </a:fld>
            <a:endParaRPr lang="de-DE" dirty="0">
              <a:solidFill>
                <a:srgbClr val="898989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3380354-33AD-CAA5-CECB-C976388172E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895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 dirty="0">
                <a:solidFill>
                  <a:srgbClr val="898989"/>
                </a:solidFill>
              </a:rPr>
              <a:t>Fachbereich | Institut | Person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AF8F44-7C9B-FC9C-954B-B3100F2B9A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2718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A7D0D7-CB1E-4E76-B87A-A5F3A360A4B8}" type="slidenum">
              <a:rPr lang="de-DE" smtClean="0">
                <a:solidFill>
                  <a:srgbClr val="898989"/>
                </a:solidFill>
              </a:rPr>
              <a:t>‹#›</a:t>
            </a:fld>
            <a:endParaRPr lang="de-DE">
              <a:solidFill>
                <a:srgbClr val="898989"/>
              </a:solidFill>
            </a:endParaRPr>
          </a:p>
        </p:txBody>
      </p:sp>
      <p:grpSp>
        <p:nvGrpSpPr>
          <p:cNvPr id="6" name="TU Da Logo">
            <a:extLst>
              <a:ext uri="{FF2B5EF4-FFF2-40B4-BE49-F238E27FC236}">
                <a16:creationId xmlns:a16="http://schemas.microsoft.com/office/drawing/2014/main" id="{1B2B06D3-8753-5133-9188-AE459F7AD654}"/>
              </a:ext>
            </a:extLst>
          </p:cNvPr>
          <p:cNvGrpSpPr/>
          <p:nvPr/>
        </p:nvGrpSpPr>
        <p:grpSpPr>
          <a:xfrm>
            <a:off x="119822" y="137059"/>
            <a:ext cx="1396524" cy="559248"/>
            <a:chOff x="7454900" y="306388"/>
            <a:chExt cx="1704610" cy="682624"/>
          </a:xfrm>
        </p:grpSpPr>
        <p:sp>
          <p:nvSpPr>
            <p:cNvPr id="7" name="AutoShape 3">
              <a:extLst>
                <a:ext uri="{FF2B5EF4-FFF2-40B4-BE49-F238E27FC236}">
                  <a16:creationId xmlns:a16="http://schemas.microsoft.com/office/drawing/2014/main" id="{0D839F9D-D886-2326-7EDA-CFF7F40AFE0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A88F50A3-1558-A807-1966-87F4BFE9FA8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D601C6E-9093-8CBD-FD59-89128CE6A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F27C1C5-EE32-79B6-CC5B-76E0A46695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DCA98B89-C06C-1AFA-6046-473CE330AD7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CE97323-EA31-B978-ED66-B1F83219FC6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88BFE13B-74F5-DD35-6914-A8A6E24A024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00CFEF3E-A6FE-E8FE-10F8-3ED6C3F212C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70B05B52-12B6-944D-AC1A-F00C2F4E2E2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E356202-0A47-80E7-90B0-E97229222D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BB654D27-05C8-139B-EB9C-5F888F7226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</p:spTree>
    <p:extLst>
      <p:ext uri="{BB962C8B-B14F-4D97-AF65-F5344CB8AC3E}">
        <p14:creationId xmlns:p14="http://schemas.microsoft.com/office/powerpoint/2010/main" val="1810847879"/>
      </p:ext>
    </p:extLst>
  </p:cSld>
  <p:clrMap bg1="lt1" tx1="dk1" bg2="lt2" tx2="dk2" accent1="accent1" accent2="accent2" accent3="accent3" accent4="accent4" accent5="accent5" accent6="accent6" hlink="hlink" folHlink="folHlink"/>
  <p:hf hdr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2E5FE76A-232E-43B6-A07F-38DA957E2F7C}" type="datetime1">
              <a:rPr lang="de-DE" smtClean="0"/>
              <a:t>06.03.2026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rgbClr val="898989"/>
                </a:solidFill>
              </a:defRPr>
            </a:lvl1pPr>
          </a:lstStyle>
          <a:p>
            <a:r>
              <a:rPr lang="de-DE"/>
              <a:t>Fachbereich | Institut | Person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0A89A431-735D-4157-B499-868DAC0D551C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8" name="TU Da Logo">
            <a:extLst>
              <a:ext uri="{FF2B5EF4-FFF2-40B4-BE49-F238E27FC236}">
                <a16:creationId xmlns:a16="http://schemas.microsoft.com/office/drawing/2014/main" id="{96C9F426-C331-5A79-76DF-05A5F9463BF3}"/>
              </a:ext>
            </a:extLst>
          </p:cNvPr>
          <p:cNvGrpSpPr/>
          <p:nvPr/>
        </p:nvGrpSpPr>
        <p:grpSpPr>
          <a:xfrm>
            <a:off x="0" y="0"/>
            <a:ext cx="1396524" cy="559248"/>
            <a:chOff x="7454900" y="306388"/>
            <a:chExt cx="1704610" cy="682624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29449998-EA2C-2328-4B51-411E09C4E08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6A34355F-DA0C-5D6B-7826-E4185B86D4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F8FD2880-5146-CE19-42AE-BB9DE00652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019F0C27-B9AD-9598-6A47-3085A7D4B43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1C03560C-EC72-CF50-20C3-4EA5F068426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0375D7A7-1E67-CF3A-F80C-50846D74CCD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FB124E21-02A5-C056-2D6F-5FA0D0D9C0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FD42C70B-C72B-02BF-16BD-BB8E559E3FF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F5539213-4F7F-2105-A3FB-10E097A76B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FFACB8FC-374A-F97F-4BCF-93906CBC44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5086F604-AA6F-7757-E42D-F621BFBEDB4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0" name="Notizenplatzhalter 19">
            <a:extLst>
              <a:ext uri="{FF2B5EF4-FFF2-40B4-BE49-F238E27FC236}">
                <a16:creationId xmlns:a16="http://schemas.microsoft.com/office/drawing/2014/main" id="{12F4F817-719A-78AC-E4C4-9C9BEF2E8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764491941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E5FE76A-232E-43B6-A07F-38DA957E2F7C}" type="datetime1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Fachbereich | Institut | Person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109278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EC18535-7F97-41D5-8C14-65527A81C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/ AUTOR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0F1DCFF-D5F9-4EBC-B138-FB795C5C9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29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 dirty="0">
                <a:solidFill>
                  <a:srgbClr val="898989"/>
                </a:solidFill>
              </a:rPr>
              <a:t>© Axel Becker</a:t>
            </a:r>
          </a:p>
        </p:txBody>
      </p:sp>
    </p:spTree>
    <p:extLst>
      <p:ext uri="{BB962C8B-B14F-4D97-AF65-F5344CB8AC3E}">
        <p14:creationId xmlns:p14="http://schemas.microsoft.com/office/powerpoint/2010/main" val="297671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 dirty="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3498994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 dirty="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10139829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CDA01-DDC9-2253-72DE-96209CE4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7C98BC-77ED-57FD-F633-2BC8142A2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1980000"/>
            <a:ext cx="11519987" cy="450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BDDB1D6-39C5-381A-1C8E-0B3A2109CC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TITEL / AUTOR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678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8DEF2-3EB0-7C61-65FD-4CF2BF6AA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924000"/>
            <a:ext cx="11558700" cy="1080000"/>
          </a:xfrm>
        </p:spPr>
        <p:txBody>
          <a:bodyPr anchor="b">
            <a:normAutofit/>
          </a:bodyPr>
          <a:lstStyle>
            <a:lvl1pPr>
              <a:defRPr sz="4200"/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B02D4D-81F0-49AF-1CF0-1A75D0BC7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040000"/>
            <a:ext cx="7919993" cy="1080000"/>
          </a:xfrm>
        </p:spPr>
        <p:txBody>
          <a:bodyPr>
            <a:normAutofit/>
          </a:bodyPr>
          <a:lstStyle>
            <a:lvl1pPr marL="0" indent="0"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590409-784D-7817-ED5F-00C6036B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0000" y="360000"/>
            <a:ext cx="8976000" cy="189000"/>
          </a:xfrm>
        </p:spPr>
        <p:txBody>
          <a:bodyPr/>
          <a:lstStyle/>
          <a:p>
            <a:r>
              <a:rPr lang="de-DE"/>
              <a:t>TITEL / AUTOR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2705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4544-40DC-4288-275B-FB15B4D0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A03BC-F835-8900-FE38-6958D04E8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/ AUTOR</a:t>
            </a:r>
            <a:endParaRPr lang="de-DE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6B08FBBD-180E-596B-F91F-8F6ADC5F63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980000"/>
            <a:ext cx="5580000" cy="450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CD333C59-0ADD-F97D-91D2-1E187ECAF60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00209" y="1980000"/>
            <a:ext cx="5580000" cy="450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8888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-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A8B7A-08C3-285D-CDA3-D0DCEF85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1DAEC6-70FB-93F3-56DA-505CA7898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/ AUTOR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D1F37F6-4222-0F2F-8273-DDE8A60C7A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3" y="1980000"/>
            <a:ext cx="11520487" cy="40680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7B3ED93-4F10-B98E-C79A-9C75CB74FC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363" y="6084000"/>
            <a:ext cx="11520487" cy="360000"/>
          </a:xfrm>
        </p:spPr>
        <p:txBody>
          <a:bodyPr anchor="ctr" anchorCtr="0">
            <a:noAutofit/>
          </a:bodyPr>
          <a:lstStyle>
            <a:lvl1pPr marL="0" indent="0">
              <a:buNone/>
              <a:defRPr sz="1400">
                <a:solidFill>
                  <a:schemeClr val="accent6"/>
                </a:solidFill>
              </a:defRPr>
            </a:lvl1pPr>
            <a:lvl2pPr marL="457200" indent="0">
              <a:buNone/>
              <a:defRPr sz="1400">
                <a:solidFill>
                  <a:schemeClr val="accent6"/>
                </a:solidFill>
              </a:defRPr>
            </a:lvl2pPr>
            <a:lvl3pPr marL="914400" indent="0">
              <a:buNone/>
              <a:defRPr sz="1400">
                <a:solidFill>
                  <a:schemeClr val="accent6"/>
                </a:solidFill>
              </a:defRPr>
            </a:lvl3pPr>
            <a:lvl4pPr marL="1371600" indent="0">
              <a:buNone/>
              <a:defRPr sz="1400">
                <a:solidFill>
                  <a:schemeClr val="accent6"/>
                </a:solidFill>
              </a:defRPr>
            </a:lvl4pPr>
            <a:lvl5pPr marL="1828800" indent="0">
              <a:buNone/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 dirty="0"/>
              <a:t>Bildunterschrift / Caption</a:t>
            </a:r>
          </a:p>
        </p:txBody>
      </p:sp>
    </p:spTree>
    <p:extLst>
      <p:ext uri="{BB962C8B-B14F-4D97-AF65-F5344CB8AC3E}">
        <p14:creationId xmlns:p14="http://schemas.microsoft.com/office/powerpoint/2010/main" val="358863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8FC2DAB9-ADD2-1E42-D0D7-6395646D29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753468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9093F2-7696-269A-BB11-D5C2FFA8B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Mastertitelformat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363686E-60AA-D422-E6EE-8DD8E5F8A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/ AUTOR</a:t>
            </a:r>
          </a:p>
        </p:txBody>
      </p:sp>
    </p:spTree>
    <p:extLst>
      <p:ext uri="{BB962C8B-B14F-4D97-AF65-F5344CB8AC3E}">
        <p14:creationId xmlns:p14="http://schemas.microsoft.com/office/powerpoint/2010/main" val="4147419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9093F2-7696-269A-BB11-D5C2FFA8B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363686E-60AA-D422-E6EE-8DD8E5F8A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/ AUTOR</a:t>
            </a:r>
          </a:p>
        </p:txBody>
      </p:sp>
    </p:spTree>
    <p:extLst>
      <p:ext uri="{BB962C8B-B14F-4D97-AF65-F5344CB8AC3E}">
        <p14:creationId xmlns:p14="http://schemas.microsoft.com/office/powerpoint/2010/main" val="3496576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66016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- Image 1">
    <p:bg>
      <p:bgPr>
        <a:blipFill dpi="0" rotWithShape="1">
          <a:blip r:embed="rId2">
            <a:alphaModFix amt="20000"/>
            <a:lum/>
          </a:blip>
          <a:srcRect/>
          <a:stretch>
            <a:fillRect t="-83000" b="-8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0FBF6DD-59EE-4B92-A882-492B049F76E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6000" y="302706"/>
            <a:ext cx="2118287" cy="1130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989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859BFDA-5919-80E3-6FB9-03C9FBF6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5DB4C4-7360-79EC-43CC-2887232E8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980000"/>
            <a:ext cx="11519987" cy="4500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3419663B-FA1A-D2AC-6FFB-FEF3AE171B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359999"/>
            <a:ext cx="8976000" cy="190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 cap="all" spc="2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/>
              <a:t>TITEL / AUTOR</a:t>
            </a:r>
            <a:endParaRPr lang="de-DE" dirty="0"/>
          </a:p>
        </p:txBody>
      </p:sp>
      <p:sp>
        <p:nvSpPr>
          <p:cNvPr id="5" name="Fußzeilenplatzhalter 21">
            <a:extLst>
              <a:ext uri="{FF2B5EF4-FFF2-40B4-BE49-F238E27FC236}">
                <a16:creationId xmlns:a16="http://schemas.microsoft.com/office/drawing/2014/main" id="{7D283BE2-FBCB-712B-618D-52A485BD70FD}"/>
              </a:ext>
            </a:extLst>
          </p:cNvPr>
          <p:cNvSpPr txBox="1">
            <a:spLocks/>
          </p:cNvSpPr>
          <p:nvPr userDrawn="1"/>
        </p:nvSpPr>
        <p:spPr>
          <a:xfrm>
            <a:off x="2136000" y="6558140"/>
            <a:ext cx="7920000" cy="180000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800" kern="1200" spc="4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>
                <a:solidFill>
                  <a:prstClr val="black">
                    <a:tint val="75000"/>
                  </a:prstClr>
                </a:solidFill>
                <a:latin typeface="Arial"/>
              </a:rPr>
              <a:t>KIS*MED | AI Systems in Medicine Lab | MA/BA Vortrag | Leqiao Peng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64CF79-8FDD-5303-2D83-D41AB90816E0}"/>
              </a:ext>
            </a:extLst>
          </p:cNvPr>
          <p:cNvSpPr txBox="1"/>
          <p:nvPr userDrawn="1"/>
        </p:nvSpPr>
        <p:spPr>
          <a:xfrm>
            <a:off x="8256000" y="1629000"/>
            <a:ext cx="108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EF68888C-E704-48D7-BCE4-C02638058E43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636106" y="6457993"/>
            <a:ext cx="216000" cy="216000"/>
          </a:xfrm>
          <a:prstGeom prst="rect">
            <a:avLst/>
          </a:prstGeom>
        </p:spPr>
      </p:pic>
      <p:sp>
        <p:nvSpPr>
          <p:cNvPr id="28" name="Fußzeilenplatzhalter 21">
            <a:extLst>
              <a:ext uri="{FF2B5EF4-FFF2-40B4-BE49-F238E27FC236}">
                <a16:creationId xmlns:a16="http://schemas.microsoft.com/office/drawing/2014/main" id="{1A7D0598-E4B6-4B61-8AFA-0C13696D0B11}"/>
              </a:ext>
            </a:extLst>
          </p:cNvPr>
          <p:cNvSpPr txBox="1">
            <a:spLocks/>
          </p:cNvSpPr>
          <p:nvPr userDrawn="1"/>
        </p:nvSpPr>
        <p:spPr>
          <a:xfrm>
            <a:off x="360000" y="6558140"/>
            <a:ext cx="720000" cy="180000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800" kern="1200" spc="4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8F3AFC53-3A67-4F52-9F4A-A2BE1BD5CBCC}" type="slidenum">
              <a:rPr lang="de-DE" smtClean="0"/>
              <a:t>‹#›</a:t>
            </a:fld>
            <a:endParaRPr lang="de-DE" dirty="0"/>
          </a:p>
        </p:txBody>
      </p:sp>
      <p:grpSp>
        <p:nvGrpSpPr>
          <p:cNvPr id="6" name="TU Da Logo">
            <a:extLst>
              <a:ext uri="{FF2B5EF4-FFF2-40B4-BE49-F238E27FC236}">
                <a16:creationId xmlns:a16="http://schemas.microsoft.com/office/drawing/2014/main" id="{FF3D6ACE-E6CC-6708-6B54-C230D8D48BE9}"/>
              </a:ext>
            </a:extLst>
          </p:cNvPr>
          <p:cNvGrpSpPr/>
          <p:nvPr userDrawn="1"/>
        </p:nvGrpSpPr>
        <p:grpSpPr>
          <a:xfrm>
            <a:off x="9917994" y="179999"/>
            <a:ext cx="2272819" cy="910166"/>
            <a:chOff x="7454900" y="306388"/>
            <a:chExt cx="1704614" cy="682624"/>
          </a:xfrm>
        </p:grpSpPr>
        <p:sp>
          <p:nvSpPr>
            <p:cNvPr id="7" name="AutoShape 3">
              <a:extLst>
                <a:ext uri="{FF2B5EF4-FFF2-40B4-BE49-F238E27FC236}">
                  <a16:creationId xmlns:a16="http://schemas.microsoft.com/office/drawing/2014/main" id="{E3899135-0759-8957-5AF0-375915F187A2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7C2369B8-28EC-6C59-E85A-FE889D4CC7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54900" y="306388"/>
              <a:ext cx="1704614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CAA7C2E4-778C-64E9-53B2-E6A41A09237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4C4A9742-0C14-A642-676B-C300AF961D3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E8CCB4F0-5051-4198-C04C-C8AB07264A8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4E99E395-C3D5-F798-8B22-DC0D541068A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38C04823-AF11-63B2-4F12-A90D4AE0261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29" name="Freeform 11">
              <a:extLst>
                <a:ext uri="{FF2B5EF4-FFF2-40B4-BE49-F238E27FC236}">
                  <a16:creationId xmlns:a16="http://schemas.microsoft.com/office/drawing/2014/main" id="{B0A6FB7F-E059-B4AE-888B-57E8E37D46A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30" name="Freeform 12">
              <a:extLst>
                <a:ext uri="{FF2B5EF4-FFF2-40B4-BE49-F238E27FC236}">
                  <a16:creationId xmlns:a16="http://schemas.microsoft.com/office/drawing/2014/main" id="{F807893B-3510-3008-FB7E-142EE2AD65F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31" name="Freeform 13">
              <a:extLst>
                <a:ext uri="{FF2B5EF4-FFF2-40B4-BE49-F238E27FC236}">
                  <a16:creationId xmlns:a16="http://schemas.microsoft.com/office/drawing/2014/main" id="{6834CF9A-FD07-CEE4-2CA8-78602FFD6BD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32" name="Freeform 14">
              <a:extLst>
                <a:ext uri="{FF2B5EF4-FFF2-40B4-BE49-F238E27FC236}">
                  <a16:creationId xmlns:a16="http://schemas.microsoft.com/office/drawing/2014/main" id="{B9511EDE-B51C-75E2-F60A-2B14986F77C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</p:spTree>
    <p:extLst>
      <p:ext uri="{BB962C8B-B14F-4D97-AF65-F5344CB8AC3E}">
        <p14:creationId xmlns:p14="http://schemas.microsoft.com/office/powerpoint/2010/main" val="879286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5" r:id="rId3"/>
    <p:sldLayoutId id="2147483666" r:id="rId4"/>
    <p:sldLayoutId id="2147483650" r:id="rId5"/>
    <p:sldLayoutId id="2147483651" r:id="rId6"/>
    <p:sldLayoutId id="2147483667" r:id="rId7"/>
    <p:sldLayoutId id="2147483668" r:id="rId8"/>
    <p:sldLayoutId id="2147483661" r:id="rId9"/>
    <p:sldLayoutId id="2147483654" r:id="rId10"/>
    <p:sldLayoutId id="2147483671" r:id="rId11"/>
    <p:sldLayoutId id="2147483655" r:id="rId12"/>
    <p:sldLayoutId id="2147483670" r:id="rId13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200" kern="1200" cap="all" baseline="0">
          <a:solidFill>
            <a:schemeClr val="tx1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000" kern="1200" spc="4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8802676"/>
      </p:ext>
    </p:extLst>
  </p:cSld>
  <p:clrMap bg1="lt1" tx1="dk1" bg2="lt2" tx2="dk2" accent1="accent1" accent2="accent2" accent3="accent3" accent4="accent4" accent5="accent5" accent6="accent6" hlink="hlink" folHlink="folHlink"/>
  <p:sldLayoutIdLst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20000"/>
            <a:lum/>
          </a:blip>
          <a:srcRect/>
          <a:stretch>
            <a:fillRect t="-83000" b="-8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55392040-7B23-45E4-8474-B36587C60737}"/>
              </a:ext>
            </a:extLst>
          </p:cNvPr>
          <p:cNvSpPr txBox="1">
            <a:spLocks/>
          </p:cNvSpPr>
          <p:nvPr/>
        </p:nvSpPr>
        <p:spPr>
          <a:xfrm>
            <a:off x="1416000" y="2520000"/>
            <a:ext cx="9360000" cy="108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>
            <a:lvl1pPr algn="ctr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de-DE" dirty="0">
                <a:solidFill>
                  <a:sysClr val="windowText" lastClr="000000"/>
                </a:solidFill>
              </a:rPr>
              <a:t>Multimodal Representation Learning with Masked Autoencoders</a:t>
            </a:r>
            <a:endParaRPr kumimoji="0" lang="de-DE" sz="4200" b="0" i="0" u="none" strike="noStrike" kern="1200" cap="all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 Black" panose="020B0A04020102020204" pitchFamily="34" charset="0"/>
              <a:ea typeface="+mj-ea"/>
              <a:cs typeface="+mj-cs"/>
            </a:endParaRP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CBF9FA69-EAE5-4154-A575-5D52AB399A9C}"/>
              </a:ext>
            </a:extLst>
          </p:cNvPr>
          <p:cNvSpPr txBox="1">
            <a:spLocks/>
          </p:cNvSpPr>
          <p:nvPr/>
        </p:nvSpPr>
        <p:spPr>
          <a:xfrm>
            <a:off x="1416000" y="3789000"/>
            <a:ext cx="9360000" cy="1468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20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16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16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de-DE" dirty="0">
                <a:solidFill>
                  <a:sysClr val="windowText" lastClr="000000"/>
                </a:solidFill>
                <a:latin typeface="Arial"/>
              </a:rPr>
              <a:t>Zwischenvortrag Masterarbeit</a:t>
            </a:r>
          </a:p>
          <a:p>
            <a:pPr lvl="0">
              <a:defRPr/>
            </a:pPr>
            <a:r>
              <a:rPr lang="de-DE" dirty="0">
                <a:solidFill>
                  <a:sysClr val="windowText" lastClr="000000"/>
                </a:solidFill>
                <a:latin typeface="Arial"/>
              </a:rPr>
              <a:t>Leqiao Peng</a:t>
            </a:r>
          </a:p>
          <a:p>
            <a:pPr lvl="0">
              <a:defRPr/>
            </a:pPr>
            <a:r>
              <a:rPr lang="de-DE" dirty="0">
                <a:solidFill>
                  <a:sysClr val="windowText" lastClr="000000"/>
                </a:solidFill>
                <a:latin typeface="Arial"/>
              </a:rPr>
              <a:t>Tizian Dege</a:t>
            </a:r>
          </a:p>
          <a:p>
            <a:pPr lvl="0">
              <a:defRPr/>
            </a:pPr>
            <a:endParaRPr lang="de-DE" dirty="0">
              <a:solidFill>
                <a:sysClr val="windowText" lastClr="000000"/>
              </a:solidFill>
              <a:latin typeface="Arial"/>
            </a:endParaRPr>
          </a:p>
          <a:p>
            <a:pPr lvl="0">
              <a:defRPr/>
            </a:pPr>
            <a:endParaRPr kumimoji="0" lang="de-DE" sz="1800" b="0" i="0" u="none" strike="noStrike" kern="1200" cap="none" spc="4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941163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Motivation &amp; Research Problem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1371600"/>
            <a:ext cx="4754880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Clinical motivation:</a:t>
            </a:r>
            <a:r>
              <a:rPr b="0">
                <a:solidFill>
                  <a:srgbClr val="3C414B"/>
                </a:solidFill>
              </a:rPr>
              <a:t> Physiological waveforms are usually measured with contact sensors.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Research problem:</a:t>
            </a:r>
            <a:r>
              <a:rPr b="0">
                <a:solidFill>
                  <a:srgbClr val="3C414B"/>
                </a:solidFill>
              </a:rPr>
              <a:t> RGB and TIR videos contain weak, heterogeneous physiological signals.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Research question:</a:t>
            </a:r>
            <a:r>
              <a:rPr b="0">
                <a:solidFill>
                  <a:srgbClr val="3C414B"/>
                </a:solidFill>
              </a:rPr>
              <a:t> Can multimodal masked pre-training improve reconstruction for unseen subjects?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1371600"/>
            <a:ext cx="5669280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RGB/TIR video -&gt; representation -&gt; BP/RESP waveform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experiments/figures/motivation_diagram.png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Data &amp; Physiological Targets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1371600"/>
            <a:ext cx="4754880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Inputs:</a:t>
            </a:r>
            <a:r>
              <a:rPr b="0">
                <a:solidFill>
                  <a:srgbClr val="3C414B"/>
                </a:solidFill>
              </a:rPr>
              <a:t> 2D RGB video and false-colour thermal infrared video.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Targets:</a:t>
            </a:r>
            <a:r>
              <a:rPr b="0">
                <a:solidFill>
                  <a:srgbClr val="3C414B"/>
                </a:solidFill>
              </a:rPr>
              <a:t> Blood-pressure and respiration waveforms as continuous 1D signals.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Evaluation setting:</a:t>
            </a:r>
            <a:r>
              <a:rPr b="0">
                <a:solidFill>
                  <a:srgbClr val="3C414B"/>
                </a:solidFill>
              </a:rPr>
              <a:t> Contactless reconstruction for strictly unseen subjects.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1371600"/>
            <a:ext cx="5669280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2D video and physiological reference signals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experiments/figures/data_targets_overview.png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Architecture: Multi-Task Masked Autoencoder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1371600"/>
            <a:ext cx="4754880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Stage 1:</a:t>
            </a:r>
            <a:r>
              <a:rPr b="0">
                <a:solidFill>
                  <a:srgbClr val="3C414B"/>
                </a:solidFill>
              </a:rPr>
              <a:t> Initialize the visual encoder with VideoMAE.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Stage 2:</a:t>
            </a:r>
            <a:r>
              <a:rPr b="0">
                <a:solidFill>
                  <a:srgbClr val="3C414B"/>
                </a:solidFill>
              </a:rPr>
              <a:t> Mask and jointly reconstruct heterogeneous modalities.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Stage 3:</a:t>
            </a:r>
            <a:r>
              <a:rPr b="0">
                <a:solidFill>
                  <a:srgbClr val="3C414B"/>
                </a:solidFill>
              </a:rPr>
              <a:t> Fine-tune the encoder for direct waveform reconstruction.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1371600"/>
            <a:ext cx="5669280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Three stages: initialization -&gt; pre-training -&gt; fine-tuning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experiments/figures/architecture_overview.png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Current Experimental Focus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1371600"/>
            <a:ext cx="4754880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Primary path:</a:t>
            </a:r>
            <a:r>
              <a:rPr b="0">
                <a:solidFill>
                  <a:srgbClr val="3C414B"/>
                </a:solidFill>
              </a:rPr>
              <a:t> Thermal infrared region of interest (TIR-ROI) -&gt; respiration waveform.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Compute platform:</a:t>
            </a:r>
            <a:r>
              <a:rPr b="0">
                <a:solidFill>
                  <a:srgbClr val="3C414B"/>
                </a:solidFill>
              </a:rPr>
              <a:t> Model training and testing are carried out on the HPC system.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Current scope:</a:t>
            </a:r>
            <a:r>
              <a:rPr b="0">
                <a:solidFill>
                  <a:srgbClr val="3C414B"/>
                </a:solidFill>
              </a:rPr>
              <a:t> This is the main experiment investigated for the mid-term presentation.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1371600"/>
            <a:ext cx="5669280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TIR-ROI video -&gt; respiration waveform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experiments/figures/tir_roi_resp_pipeline.png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Current Status: TIR-ROI -&gt; Respiration on HPC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63040"/>
            <a:ext cx="10360152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HPC training/testing pipeline and current validation status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experiments/figures/pipeline_status.png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Evaluation: Reconstruction for Unseen Subjects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1371600"/>
            <a:ext cx="4754880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Split:</a:t>
            </a:r>
            <a:r>
              <a:rPr b="0">
                <a:solidFill>
                  <a:srgbClr val="3C414B"/>
                </a:solidFill>
              </a:rPr>
              <a:t> Training, validation, and test subjects are strictly disjoint.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Evaluation design:</a:t>
            </a:r>
            <a:r>
              <a:rPr b="0">
                <a:solidFill>
                  <a:srgbClr val="3C414B"/>
                </a:solidFill>
              </a:rPr>
              <a:t> One fixed test split is evaluated once; no k-fold cross-validation is performed.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Headline metric:</a:t>
            </a:r>
            <a:r>
              <a:rPr b="0">
                <a:solidFill>
                  <a:srgbClr val="3C414B"/>
                </a:solidFill>
              </a:rPr>
              <a:t> Band-limited Pearson correlation of the reconstructed waveform.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Baselines:</a:t>
            </a:r>
            <a:r>
              <a:rPr b="0">
                <a:solidFill>
                  <a:srgbClr val="3C414B"/>
                </a:solidFill>
              </a:rPr>
              <a:t> The model is compared with a constant line and a single-tone reference.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1371600"/>
            <a:ext cx="5669280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Subject-disjoint split and baseline comparison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experiments/figures/evaluation_protocol.png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Roadmap &amp; Milestones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63040"/>
            <a:ext cx="10360152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Completed -&gt; ongoing -&gt; planned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experiments/figures/timeline_gantt.png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Interim Conclusions &amp; Next Steps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1371600"/>
            <a:ext cx="10360152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Established:</a:t>
            </a:r>
            <a:r>
              <a:rPr b="0">
                <a:solidFill>
                  <a:srgbClr val="3C414B"/>
                </a:solidFill>
              </a:rPr>
              <a:t> The current focus is the TIR-ROI -&gt; respiration path trained and tested on HPC.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Evaluation protocol:</a:t>
            </a:r>
            <a:r>
              <a:rPr b="0">
                <a:solidFill>
                  <a:srgbClr val="3C414B"/>
                </a:solidFill>
              </a:rPr>
              <a:t> A single fixed test split is used; k-fold cross-validation is outside the current scope.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Next step:</a:t>
            </a:r>
            <a:r>
              <a:rPr b="0">
                <a:solidFill>
                  <a:srgbClr val="3C414B"/>
                </a:solidFill>
              </a:rPr>
              <a:t> Complete the analysis of the held-out test result and document the limitations of the single split.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References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1371600"/>
            <a:ext cx="10360152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0">
                <a:solidFill>
                  <a:srgbClr val="3C414B"/>
                </a:solidFill>
              </a:rPr>
              <a:t>[1] K. He, X. Chen, S. Xie, Y. Li, P. Dollár, and R. Girshick, 'Masked Autoencoders Are Scalable Vision Learners,' CVPR, 2022.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0">
                <a:solidFill>
                  <a:srgbClr val="3C414B"/>
                </a:solidFill>
              </a:rPr>
              <a:t>[2] R. Bachmann, D. Mizrahi, A. Atanov, and A. Zamir, 'MultiMAE: Multi-modal Multi-task Masked Autoencoders,' ECCV, 2022.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0">
                <a:solidFill>
                  <a:srgbClr val="3C414B"/>
                </a:solidFill>
              </a:rPr>
              <a:t>[3] Z. Zhang et al., 'Multimodal Spontaneous Emotion Corpus (BP4D+),' IEEE FG, 2016.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Appendix: Current and Planned Configuration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3601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3384"/>
                <a:gridCol w="3453384"/>
                <a:gridCol w="3453384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Local Validation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Thesis-Scale Experiment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Input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64 x 64 pixels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112 x 112 pixels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Dataset 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11 local sessions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Full BP4D+ dataset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HPC configuration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Current 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Pipeline checks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TIR-ROI -&gt; respiration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Single test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Single test split; no k-fold CV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U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6001A"/>
      </a:accent1>
      <a:accent2>
        <a:srgbClr val="004E8A"/>
      </a:accent2>
      <a:accent3>
        <a:srgbClr val="009CDA"/>
      </a:accent3>
      <a:accent4>
        <a:srgbClr val="00689D"/>
      </a:accent4>
      <a:accent5>
        <a:srgbClr val="B5B5B5"/>
      </a:accent5>
      <a:accent6>
        <a:srgbClr val="535353"/>
      </a:accent6>
      <a:hlink>
        <a:srgbClr val="243572"/>
      </a:hlink>
      <a:folHlink>
        <a:srgbClr val="611C73"/>
      </a:folHlink>
    </a:clrScheme>
    <a:fontScheme name="TU Darmstadt 2023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ite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153</Words>
  <Application>Microsoft Office PowerPoint</Application>
  <PresentationFormat>Widescreen</PresentationFormat>
  <Paragraphs>23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Black</vt:lpstr>
      <vt:lpstr>Calibri</vt:lpstr>
      <vt:lpstr>Wingdings</vt:lpstr>
      <vt:lpstr>Template</vt:lpstr>
      <vt:lpstr>Titel</vt:lpstr>
      <vt:lpstr>PowerPoint Presentation</vt:lpstr>
      <vt:lpstr>Hinweise</vt:lpstr>
      <vt:lpstr>Hinweise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td38heni</cp:lastModifiedBy>
  <cp:revision>4</cp:revision>
  <dcterms:created xsi:type="dcterms:W3CDTF">2023-05-22T13:03:01Z</dcterms:created>
  <dcterms:modified xsi:type="dcterms:W3CDTF">2026-03-06T15:10:12Z</dcterms:modified>
</cp:coreProperties>
</file>