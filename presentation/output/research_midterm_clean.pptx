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6"/>
  </p:notesMasterIdLst>
  <p:handoutMasterIdLst>
    <p:handoutMasterId r:id="rId7"/>
  </p:handoutMasterIdLst>
  <p:sldIdLst>
    <p:sldId id="264" r:id="rId3"/>
    <p:sldId id="265" r:id="rId5"/>
    <p:sldId id="266" r:id="rId4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51169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6247" autoAdjust="0"/>
  </p:normalViewPr>
  <p:slideViewPr>
    <p:cSldViewPr showGuides="1">
      <p:cViewPr varScale="1">
        <p:scale>
          <a:sx n="106" d="100"/>
          <a:sy n="106" d="100"/>
        </p:scale>
        <p:origin x="54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360000" cy="36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03E01-EAFE-473E-9404-4EBCA1BD0397}" type="datetime1">
              <a:rPr lang="de-DE" smtClean="0">
                <a:solidFill>
                  <a:srgbClr val="898989"/>
                </a:solidFill>
              </a:rPr>
              <a:t>06.03.2026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‹#›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E5FE76A-232E-43B6-A07F-38DA957E2F7C}" type="datetime1">
              <a:rPr lang="de-DE" smtClean="0"/>
              <a:t>06.03.2026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5FE76A-232E-43B6-A07F-38DA957E2F7C}" type="datetime1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Fachbereich | Institut | Person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927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C18535-7F97-41D5-8C14-65527A81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0F1DCFF-D5F9-4EBC-B138-FB795C5C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/ AUTOR</a:t>
            </a:r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/ AUTOR</a:t>
            </a:r>
          </a:p>
        </p:txBody>
      </p:sp>
    </p:spTree>
    <p:extLst>
      <p:ext uri="{BB962C8B-B14F-4D97-AF65-F5344CB8AC3E}">
        <p14:creationId xmlns:p14="http://schemas.microsoft.com/office/powerpoint/2010/main" val="3496576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Image 1">
    <p:bg>
      <p:bgPr>
        <a:blipFill dpi="0" rotWithShape="1">
          <a:blip r:embed="rId2">
            <a:alphaModFix amt="20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0FBF6DD-59EE-4B92-A882-492B049F76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000" y="302706"/>
            <a:ext cx="2118287" cy="11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8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6000" y="6558140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prstClr val="black">
                    <a:tint val="75000"/>
                  </a:prstClr>
                </a:solidFill>
                <a:latin typeface="Arial"/>
              </a:rPr>
              <a:t>KIS*MED | AI Systems in Medicine Lab | MA/BA Vortrag | Leqiao Peng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EF68888C-E704-48D7-BCE4-C02638058E4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636106" y="6457993"/>
            <a:ext cx="216000" cy="216000"/>
          </a:xfrm>
          <a:prstGeom prst="rect">
            <a:avLst/>
          </a:prstGeom>
        </p:spPr>
      </p:pic>
      <p:sp>
        <p:nvSpPr>
          <p:cNvPr id="28" name="Fußzeilenplatzhalter 21">
            <a:extLst>
              <a:ext uri="{FF2B5EF4-FFF2-40B4-BE49-F238E27FC236}">
                <a16:creationId xmlns:a16="http://schemas.microsoft.com/office/drawing/2014/main" id="{1A7D0598-E4B6-4B61-8AFA-0C13696D0B11}"/>
              </a:ext>
            </a:extLst>
          </p:cNvPr>
          <p:cNvSpPr txBox="1">
            <a:spLocks/>
          </p:cNvSpPr>
          <p:nvPr userDrawn="1"/>
        </p:nvSpPr>
        <p:spPr>
          <a:xfrm>
            <a:off x="360000" y="6558140"/>
            <a:ext cx="720000" cy="180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8F3AFC53-3A67-4F52-9F4A-A2BE1BD5CBCC}" type="slidenum">
              <a:rPr lang="de-DE" smtClean="0"/>
              <a:t>‹#›</a:t>
            </a:fld>
            <a:endParaRPr lang="de-DE" dirty="0"/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FF3D6ACE-E6CC-6708-6B54-C230D8D48BE9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E3899135-0759-8957-5AF0-375915F187A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7C2369B8-28EC-6C59-E85A-FE889D4CC7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AA7C2E4-778C-64E9-53B2-E6A41A0923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4C4A9742-0C14-A642-676B-C300AF961D3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E8CCB4F0-5051-4198-C04C-C8AB07264A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4E99E395-C3D5-F798-8B22-DC0D541068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38C04823-AF11-63B2-4F12-A90D4AE026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0A6FB7F-E059-B4AE-888B-57E8E37D46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F807893B-3510-3008-FB7E-142EE2AD65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6834CF9A-FD07-CEE4-2CA8-78602FFD6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B9511EDE-B51C-75E2-F60A-2B14986F77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71" r:id="rId11"/>
    <p:sldLayoutId id="2147483655" r:id="rId12"/>
    <p:sldLayoutId id="2147483670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802676"/>
      </p:ext>
    </p:extLst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55392040-7B23-45E4-8474-B36587C60737}"/>
              </a:ext>
            </a:extLst>
          </p:cNvPr>
          <p:cNvSpPr txBox="1">
            <a:spLocks/>
          </p:cNvSpPr>
          <p:nvPr/>
        </p:nvSpPr>
        <p:spPr>
          <a:xfrm>
            <a:off x="1416000" y="2520000"/>
            <a:ext cx="9360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</a:rPr>
              <a:t>Multimodal Representation Learning with Masked Autoencoders</a:t>
            </a:r>
            <a:endParaRPr kumimoji="0" lang="de-DE" sz="42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CBF9FA69-EAE5-4154-A575-5D52AB399A9C}"/>
              </a:ext>
            </a:extLst>
          </p:cNvPr>
          <p:cNvSpPr txBox="1">
            <a:spLocks/>
          </p:cNvSpPr>
          <p:nvPr/>
        </p:nvSpPr>
        <p:spPr>
          <a:xfrm>
            <a:off x="1416000" y="3789000"/>
            <a:ext cx="9360000" cy="1468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  <a:latin typeface="Arial"/>
              </a:rPr>
              <a:t>Zwischenvortrag Masterarbeit</a:t>
            </a:r>
          </a:p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  <a:latin typeface="Arial"/>
              </a:rPr>
              <a:t>Leqiao Peng</a:t>
            </a:r>
          </a:p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  <a:latin typeface="Arial"/>
              </a:rPr>
              <a:t>Tizian Dege</a:t>
            </a:r>
          </a:p>
          <a:p>
            <a:pPr lvl="0">
              <a:defRPr/>
            </a:pPr>
            <a:endParaRPr lang="de-DE" dirty="0">
              <a:solidFill>
                <a:sysClr val="windowText" lastClr="000000"/>
              </a:solidFill>
              <a:latin typeface="Arial"/>
            </a:endParaRPr>
          </a:p>
          <a:p>
            <a:pPr lvl="0">
              <a:defRPr/>
            </a:pPr>
            <a:endParaRPr kumimoji="0" lang="de-DE" sz="1800" b="0" i="0" u="none" strike="noStrike" kern="1200" cap="none" spc="4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Motivation &amp; Research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Clinical motivation:</a:t>
            </a:r>
            <a:r>
              <a:rPr b="0">
                <a:solidFill>
                  <a:srgbClr val="3C414B"/>
                </a:solidFill>
              </a:rPr>
              <a:t> Physiological waveforms are usually measured with contact sensors.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Research problem:</a:t>
            </a:r>
            <a:r>
              <a:rPr b="0">
                <a:solidFill>
                  <a:srgbClr val="3C414B"/>
                </a:solidFill>
              </a:rPr>
              <a:t> RGB and TIR videos contain weak, heterogeneous physiological signals.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Research question:</a:t>
            </a:r>
            <a:r>
              <a:rPr b="0">
                <a:solidFill>
                  <a:srgbClr val="3C414B"/>
                </a:solidFill>
              </a:rPr>
              <a:t> Can multimodal masked pre-training improve reconstruction for unseen subjects?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RGB/TIR video -&gt; representation -&gt; BP/RESP waveform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experiments/figures/motivation_diagram.png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Data &amp; Physiological Targets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Inputs:</a:t>
            </a:r>
            <a:r>
              <a:rPr b="0">
                <a:solidFill>
                  <a:srgbClr val="3C414B"/>
                </a:solidFill>
              </a:rPr>
              <a:t> 2D RGB video and false-colour thermal infrared video.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Targets:</a:t>
            </a:r>
            <a:r>
              <a:rPr b="0">
                <a:solidFill>
                  <a:srgbClr val="3C414B"/>
                </a:solidFill>
              </a:rPr>
              <a:t> Blood-pressure and respiration waveforms as continuous 1D signals.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Evaluation setting:</a:t>
            </a:r>
            <a:r>
              <a:rPr b="0">
                <a:solidFill>
                  <a:srgbClr val="3C414B"/>
                </a:solidFill>
              </a:rPr>
              <a:t> Contactless reconstruction for strictly unseen subjects.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2D video and physiological reference signals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experiments/figures/data_targets_overview.png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Architecture: Multi-Task Masked Autoencoder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Stage 1:</a:t>
            </a:r>
            <a:r>
              <a:rPr b="0">
                <a:solidFill>
                  <a:srgbClr val="3C414B"/>
                </a:solidFill>
              </a:rPr>
              <a:t> Initialize the visual encoder with VideoMAE.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Stage 2:</a:t>
            </a:r>
            <a:r>
              <a:rPr b="0">
                <a:solidFill>
                  <a:srgbClr val="3C414B"/>
                </a:solidFill>
              </a:rPr>
              <a:t> Mask and jointly reconstruct heterogeneous modalities.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Stage 3:</a:t>
            </a:r>
            <a:r>
              <a:rPr b="0">
                <a:solidFill>
                  <a:srgbClr val="3C414B"/>
                </a:solidFill>
              </a:rPr>
              <a:t> Fine-tune the encoder for direct waveform reconstruction.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Three stages: initialization -&gt; pre-training -&gt; fine-tuning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experiments/figures/architecture_overview.png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Current Status: Pipeline Validated, Evaluation Ongoing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0152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Implementation, local validation, and ongoing evaluation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experiments/figures/pipeline_status.png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Evaluation: Reconstruction for Unseen Subjects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Split:</a:t>
            </a:r>
            <a:r>
              <a:rPr b="0">
                <a:solidFill>
                  <a:srgbClr val="3C414B"/>
                </a:solidFill>
              </a:rPr>
              <a:t> Training, validation, and test subjects are strictly disjoint.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Headline metric:</a:t>
            </a:r>
            <a:r>
              <a:rPr b="0">
                <a:solidFill>
                  <a:srgbClr val="3C414B"/>
                </a:solidFill>
              </a:rPr>
              <a:t> Band-limited Pearson correlation of the reconstructed waveform.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Baselines:</a:t>
            </a:r>
            <a:r>
              <a:rPr b="0">
                <a:solidFill>
                  <a:srgbClr val="3C414B"/>
                </a:solidFill>
              </a:rPr>
              <a:t> The model must outperform a constant line and a single-tone reference.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Subject-disjoint split and baseline comparison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experiments/figures/evaluation_protocol.png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Roadmap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0152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Completed -&gt; ongoing -&gt; planned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experiments/figures/timeline_gantt.png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Interim Conclusions &amp; 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Established:</a:t>
            </a:r>
            <a:r>
              <a:rPr b="0">
                <a:solidFill>
                  <a:srgbClr val="3C414B"/>
                </a:solidFill>
              </a:rPr>
              <a:t> A complete pipeline for multimodal pre-training and waveform fine-tuning is implemented.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Still open:</a:t>
            </a:r>
            <a:r>
              <a:rPr b="0">
                <a:solidFill>
                  <a:srgbClr val="3C414B"/>
                </a:solidFill>
              </a:rPr>
              <a:t> Generalization to unseen subjects and a fair comparison with trivial baselines.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Next step:</a:t>
            </a:r>
            <a:r>
              <a:rPr b="0">
                <a:solidFill>
                  <a:srgbClr val="3C414B"/>
                </a:solidFill>
              </a:rPr>
              <a:t> Subject-disjoint evaluation and ablations of each modality's contribution.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References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0">
                <a:solidFill>
                  <a:srgbClr val="3C414B"/>
                </a:solidFill>
              </a:rPr>
              <a:t>[1] K. He, X. Chen, S. Xie, Y. Li, P. Dollár, and R. Girshick, 'Masked Autoencoders Are Scalable Vision Learners,' CVPR, 2022.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0">
                <a:solidFill>
                  <a:srgbClr val="3C414B"/>
                </a:solidFill>
              </a:rPr>
              <a:t>[2] R. Bachmann, D. Mizrahi, A. Atanov, and A. Zamir, 'MultiMAE: Multi-modal Multi-task Masked Autoencoders,' ECCV, 2022.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0">
                <a:solidFill>
                  <a:srgbClr val="3C414B"/>
                </a:solidFill>
              </a:rPr>
              <a:t>[3] Z. Zhang et al., 'Multimodal Spontaneous Emotion Corpus (BP4D+),' IEEE FG, 2016.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Appendix: Current and Planned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Local Validation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Thesis-Scale Experiment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64 x 64 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112 x 112 pixels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Dataset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11 local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Full BP4D+ dataset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HPC configuration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Engineering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Scientific evaluation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153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Template</vt:lpstr>
      <vt:lpstr>Titel</vt:lpstr>
      <vt:lpstr>PowerPoint Presentation</vt:lpstr>
      <vt:lpstr>Hinweise</vt:lpstr>
      <vt:lpstr>Hinweise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td38heni</cp:lastModifiedBy>
  <cp:revision>4</cp:revision>
  <dcterms:created xsi:type="dcterms:W3CDTF">2023-05-22T13:03:01Z</dcterms:created>
  <dcterms:modified xsi:type="dcterms:W3CDTF">2026-03-06T15:10:12Z</dcterms:modified>
</cp:coreProperties>
</file>