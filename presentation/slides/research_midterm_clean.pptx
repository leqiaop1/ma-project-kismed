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6"/>
  </p:notesMasterIdLst>
  <p:handoutMasterIdLst>
    <p:handoutMasterId r:id="rId7"/>
  </p:handoutMasterIdLst>
  <p:sldIdLst>
    <p:sldId id="264" r:id="rId3"/>
    <p:sldId id="265" r:id="rId5"/>
    <p:sldId id="266" r:id="rId4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51169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6247" autoAdjust="0"/>
  </p:normalViewPr>
  <p:slideViewPr>
    <p:cSldViewPr showGuides="1">
      <p:cViewPr varScale="1">
        <p:scale>
          <a:sx n="106" d="100"/>
          <a:sy n="106" d="100"/>
        </p:scale>
        <p:origin x="54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360000" cy="36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03E01-EAFE-473E-9404-4EBCA1BD0397}" type="datetime1">
              <a:rPr lang="de-DE" smtClean="0">
                <a:solidFill>
                  <a:srgbClr val="898989"/>
                </a:solidFill>
              </a:rPr>
              <a:t>06.03.2026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E5FE76A-232E-43B6-A07F-38DA957E2F7C}" type="datetime1">
              <a:rPr lang="de-DE" smtClean="0"/>
              <a:t>06.03.2026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5FE76A-232E-43B6-A07F-38DA957E2F7C}" type="datetime1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Fachbereich | Institut | Person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927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C18535-7F97-41D5-8C14-65527A81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0F1DCFF-D5F9-4EBC-B138-FB795C5C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/ AUTOR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/ AUTOR</a:t>
            </a:r>
          </a:p>
        </p:txBody>
      </p:sp>
    </p:spTree>
    <p:extLst>
      <p:ext uri="{BB962C8B-B14F-4D97-AF65-F5344CB8AC3E}">
        <p14:creationId xmlns:p14="http://schemas.microsoft.com/office/powerpoint/2010/main" val="3496576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Image 1">
    <p:bg>
      <p:bgPr>
        <a:blipFill dpi="0" rotWithShape="1">
          <a:blip r:embed="rId2">
            <a:alphaModFix amt="20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0FBF6DD-59EE-4B92-A882-492B049F76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000" y="302706"/>
            <a:ext cx="2118287" cy="11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8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6000" y="6558140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prstClr val="black">
                    <a:tint val="75000"/>
                  </a:prstClr>
                </a:solidFill>
                <a:latin typeface="Arial"/>
              </a:rPr>
              <a:t>KIS*MED | AI Systems in Medicine Lab | MA midterm | Leqiao Peng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EF68888C-E704-48D7-BCE4-C02638058E4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36106" y="6457993"/>
            <a:ext cx="216000" cy="216000"/>
          </a:xfrm>
          <a:prstGeom prst="rect">
            <a:avLst/>
          </a:prstGeom>
        </p:spPr>
      </p:pic>
      <p:sp>
        <p:nvSpPr>
          <p:cNvPr id="28" name="Fußzeilenplatzhalter 21">
            <a:extLst>
              <a:ext uri="{FF2B5EF4-FFF2-40B4-BE49-F238E27FC236}">
                <a16:creationId xmlns:a16="http://schemas.microsoft.com/office/drawing/2014/main" id="{1A7D0598-E4B6-4B61-8AFA-0C13696D0B11}"/>
              </a:ext>
            </a:extLst>
          </p:cNvPr>
          <p:cNvSpPr txBox="1">
            <a:spLocks/>
          </p:cNvSpPr>
          <p:nvPr userDrawn="1"/>
        </p:nvSpPr>
        <p:spPr>
          <a:xfrm>
            <a:off x="360000" y="6558140"/>
            <a:ext cx="720000" cy="18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F3AFC53-3A67-4F52-9F4A-A2BE1BD5CBCC}" type="slidenum">
              <a:rPr lang="de-DE" smtClean="0"/>
              <a:t>‹#›</a:t>
            </a:fld>
            <a:endParaRPr lang="de-DE" dirty="0"/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FF3D6ACE-E6CC-6708-6B54-C230D8D48BE9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E3899135-0759-8957-5AF0-375915F187A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7C2369B8-28EC-6C59-E85A-FE889D4CC7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AA7C2E4-778C-64E9-53B2-E6A41A0923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4C4A9742-0C14-A642-676B-C300AF961D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E8CCB4F0-5051-4198-C04C-C8AB07264A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4E99E395-C3D5-F798-8B22-DC0D541068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8C04823-AF11-63B2-4F12-A90D4AE026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0A6FB7F-E059-B4AE-888B-57E8E37D46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F807893B-3510-3008-FB7E-142EE2AD65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6834CF9A-FD07-CEE4-2CA8-78602FFD6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9511EDE-B51C-75E2-F60A-2B14986F77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71" r:id="rId11"/>
    <p:sldLayoutId id="2147483655" r:id="rId12"/>
    <p:sldLayoutId id="2147483670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802676"/>
      </p:ext>
    </p:extLst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55392040-7B23-45E4-8474-B36587C60737}"/>
              </a:ext>
            </a:extLst>
          </p:cNvPr>
          <p:cNvSpPr txBox="1">
            <a:spLocks/>
          </p:cNvSpPr>
          <p:nvPr/>
        </p:nvSpPr>
        <p:spPr>
          <a:xfrm>
            <a:off x="1416000" y="2520000"/>
            <a:ext cx="9360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</a:rPr>
              <a:t>Multimodal Masked Autoencoders for Robust Videos and Signal Reconstruction</a:t>
            </a:r>
            <a:endParaRPr kumimoji="0" lang="de-DE" sz="42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CBF9FA69-EAE5-4154-A575-5D52AB399A9C}"/>
              </a:ext>
            </a:extLst>
          </p:cNvPr>
          <p:cNvSpPr txBox="1">
            <a:spLocks/>
          </p:cNvSpPr>
          <p:nvPr/>
        </p:nvSpPr>
        <p:spPr>
          <a:xfrm>
            <a:off x="1416000" y="3789000"/>
            <a:ext cx="9360000" cy="1468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MA midterm</a:t>
            </a:r>
          </a:p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Leqiao Peng</a:t>
            </a:r>
          </a:p>
          <a:p>
            <a:pPr lvl="0">
              <a:defRPr/>
            </a:pPr>
            <a:r>
              <a:rPr lang="de-DE" dirty="0">
                <a:solidFill>
                  <a:sysClr val="windowText" lastClr="000000"/>
                </a:solidFill>
                <a:latin typeface="Arial"/>
              </a:rPr>
              <a:t>Prof. Antink / Mr. Tizian Dege</a:t>
            </a:r>
          </a:p>
          <a:p>
            <a:pPr lvl="0">
              <a:defRPr/>
            </a:pPr>
            <a:endParaRPr lang="de-DE" dirty="0">
              <a:solidFill>
                <a:sysClr val="windowText" lastClr="000000"/>
              </a:solidFill>
              <a:latin typeface="Arial"/>
            </a:endParaRPr>
          </a:p>
          <a:p>
            <a:pPr lvl="0">
              <a:defRPr/>
            </a:pPr>
            <a:endParaRPr kumimoji="0" lang="de-DE" sz="1800" b="0" i="0" u="none" strike="noStrike" kern="1200" cap="none" spc="4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Motivation &amp; 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Clinical motivation:</a:t>
            </a:r>
            <a:r>
              <a:rPr b="0">
                <a:solidFill>
                  <a:srgbClr val="3C414B"/>
                </a:solidFill>
              </a:rPr>
              <a:t> Physiological waveforms are usually measured with contact sensors.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Research problem:</a:t>
            </a:r>
            <a:r>
              <a:rPr b="0">
                <a:solidFill>
                  <a:srgbClr val="3C414B"/>
                </a:solidFill>
              </a:rPr>
              <a:t> RGB and TIR videos contain weak, heterogeneous physiological signals.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Research question:</a:t>
            </a:r>
            <a:r>
              <a:rPr b="0">
                <a:solidFill>
                  <a:srgbClr val="3C414B"/>
                </a:solidFill>
              </a:rPr>
              <a:t> Can multimodal atuoencoder help reconstruction of vital signs for unseen subjects?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RGB/TIR video -&gt; representation -&gt; BP/RESP waveform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figures/motivation_diagram.png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Corpus:</a:t>
            </a:r>
            <a:r>
              <a:rPr b="0">
                <a:solidFill>
                  <a:srgbClr val="3C414B"/>
                </a:solidFill>
              </a:rPr>
              <a:t> BP4D+ multimodal spontaneous emotion corpus [3].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Subjects:</a:t>
            </a:r>
            <a:r>
              <a:rPr b="0">
                <a:solidFill>
                  <a:srgbClr val="3C414B"/>
                </a:solidFill>
              </a:rPr>
              <a:t> 140 subjects, 8 sessions each, 40 clips per session.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Modalities:</a:t>
            </a:r>
            <a:r>
              <a:rPr b="0">
                <a:solidFill>
                  <a:srgbClr val="3C414B"/>
                </a:solidFill>
              </a:rPr>
              <a:t> RGB, thermal infrared (TIR), depth, audio, and physiological signals (ECG, EMG, EDA, respiration).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Focus:</a:t>
            </a:r>
            <a:r>
              <a:rPr b="0">
                <a:solidFill>
                  <a:srgbClr val="3C414B"/>
                </a:solidFill>
              </a:rPr>
              <a:t>** Different Auxiliary tasks (T1-T10): facial expression, head pose, gaze, and action units.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📊 [Abbildung / Visualisierung]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Data &amp; Physiological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Current input:</a:t>
            </a:r>
            <a:r>
              <a:rPr b="0">
                <a:solidFill>
                  <a:srgbClr val="3C414B"/>
                </a:solidFill>
              </a:rPr>
              <a:t> False-colour thermal infrared video cropped to a facial TIR. ROI extracted from the full frame using a pre-trained face detector.**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Current target:</a:t>
            </a:r>
            <a:r>
              <a:rPr b="0">
                <a:solidFill>
                  <a:srgbClr val="3C414B"/>
                </a:solidFill>
              </a:rPr>
              <a:t> Continuous respiration waveform from the contact sensor.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Evaluation setting:</a:t>
            </a:r>
            <a:r>
              <a:rPr b="0">
                <a:solidFill>
                  <a:srgbClr val="3C414B"/>
                </a:solidFill>
              </a:rPr>
              <a:t> Contactless reconstruction for strictly unseen subjects; RGB/BP remain comparison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TIR-ROI video and respiration reference signal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experiments/figures/data_targets_overview.png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Method inspirated by work MultiMAE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0">
                <a:solidFill>
                  <a:srgbClr val="3C414B"/>
                </a:solidFill>
              </a:rPr>
              <a:t>MultiAME [2] is a multi-modal, multi-task masked autoencoder that can handle RGB, depth, and audio modalities.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MultiMAE architecture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experiments/figures/multimae_architecture.png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Method inspirated by work VideoMAE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0">
                <a:solidFill>
                  <a:srgbClr val="3C414B"/>
                </a:solidFill>
              </a:rPr>
              <a:t>VideoMAE [1] is a masked autoencoder for video representation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VideoMAE architecture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experiments/figures/videomae_architecture.png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Architecture: Multi-Task Masked Autoencoder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1:</a:t>
            </a:r>
            <a:r>
              <a:rPr b="0">
                <a:solidFill>
                  <a:srgbClr val="3C414B"/>
                </a:solidFill>
              </a:rPr>
              <a:t> Initialize the visual encoder with VideoMAE.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2:</a:t>
            </a:r>
            <a:r>
              <a:rPr b="0">
                <a:solidFill>
                  <a:srgbClr val="3C414B"/>
                </a:solidFill>
              </a:rPr>
              <a:t> Masked multi-modal pre-training: visual masking 90 %, physiological stream 50 %, with span masking for the 1-D signal.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Stage 3:</a:t>
            </a:r>
            <a:r>
              <a:rPr b="0">
                <a:solidFill>
                  <a:srgbClr val="3C414B"/>
                </a:solidFill>
              </a:rPr>
              <a:t> Reconstruct the respiration waveform from the TIR-ROI alone, simulating total contact-sensor failure.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Three stages: initialization -&gt; pre-training -&gt; fine-tuning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experiments/figures/architecture_overview.png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Current Experimental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Primary path:</a:t>
            </a:r>
            <a:r>
              <a:rPr b="0">
                <a:solidFill>
                  <a:srgbClr val="3C414B"/>
                </a:solidFill>
              </a:rPr>
              <a:t> Thermal infrared region of interest (TIR-ROI) -&gt; respiration waveform.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HPC full run:</a:t>
            </a:r>
            <a:r>
              <a:rPr b="0">
                <a:solidFill>
                  <a:srgbClr val="3C414B"/>
                </a:solidFill>
              </a:rPr>
              <a:t> Stage-2 pre-training and Stage-3 fine-tuning completed on the full corpus (~1,400 sessions discovered; ~97 % usable).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Matched setup:</a:t>
            </a:r>
            <a:r>
              <a:rPr b="0">
                <a:solidFill>
                  <a:srgbClr val="3C414B"/>
                </a:solidFill>
              </a:rPr>
              <a:t> 8-second clips, 112 x 112 ROI input, 100 Hz target, and subject-disjoint splitting.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Infrastructure:</a:t>
            </a:r>
            <a:r>
              <a:rPr b="0">
                <a:solidFill>
                  <a:srgbClr val="3C414B"/>
                </a:solidFill>
              </a:rPr>
              <a:t> An offline 112 x 112 ROI cache (1,385 shards, 91 GB) removes the decode bottleneck, so full-corpus training is compute-bound (loader share 84.5 % -&gt; 0.0 %).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Completed HPC pipeline: TIR-ROI video -&gt; respiration waveform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experiments/figures/tir_roi_resp_pipeline.png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First Full HPC Run Completed: TIR-ROI -&gt; Respiration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Completed HPC run and preliminary subject-level evaluation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experiments/figures/pipeline_status.png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Preliminary HPC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Evaluation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28 subjects / 273 sessions / 5,143 clips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Held-out subject split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Band-limited 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0.569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Median per subject; 95% CI [0.451, 0.624]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Single-tone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0.535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Rate-only reference; 95% CI [0.499, 0.545]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Subjects beating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Essentially at chance (50%)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Task-group 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+0.738 / +0.524 / +0.515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Low clearly ahead; moderate = 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How to Interpret the First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Marginal edge:</a:t>
            </a:r>
            <a:r>
              <a:rPr b="0">
                <a:solidFill>
                  <a:srgbClr val="3C414B"/>
                </a:solidFill>
              </a:rPr>
              <a:t> The median band-limited Pearson (0.569) edges the single-tone template (0.535), but the model CI [0.451, 0.624] overlaps the baseline CI [0.499, 0.545].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At chance level:</a:t>
            </a:r>
            <a:r>
              <a:rPr b="0">
                <a:solidFill>
                  <a:srgbClr val="3C414B"/>
                </a:solidFill>
              </a:rPr>
              <a:t> Only 53.6 % of held-out subjects beat the rate-only baseline - essentially a coin flip.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Practical reading:</a:t>
            </a:r>
            <a:r>
              <a:rPr b="0">
                <a:solidFill>
                  <a:srgbClr val="3C414B"/>
                </a:solidFill>
              </a:rPr>
              <a:t> The model recovers a breathing-rate-related pattern for part of the cohort, but does not establish reliable facial respiration reconstruction.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Status:</a:t>
            </a:r>
            <a:r>
              <a:rPr b="0">
                <a:solidFill>
                  <a:srgbClr val="3C414B"/>
                </a:solidFill>
              </a:rPr>
              <a:t> An initial full-run result for debugging and scientific diagnosis, not a final generalisation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Low-Distortion Tasks Score Clearly Better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Distortion group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Median band-limited Pearson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T2, 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+0.738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T4, T7, T8, 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+0.524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T1, T5, T6, T9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+0.515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Low - moderate / low -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+0.214 / +0.223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Clear, consistent gap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Why Low-Distortion Tasks Score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What the grouping is:</a:t>
            </a:r>
            <a:r>
              <a:rPr b="0">
                <a:solidFill>
                  <a:srgbClr val="3C414B"/>
                </a:solidFill>
              </a:rPr>
              <a:t> A project-defined convention (config `task_groups`), not a BP4D+ annotation - shipped levels: low T2/T3, moderate T4/T7/T8/T10, high T1/T5/T6/T9.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Not a data-cleanliness effect:</a:t>
            </a:r>
            <a:r>
              <a:rPr b="0">
                <a:solidFill>
                  <a:srgbClr val="3C414B"/>
                </a:solidFill>
              </a:rPr>
              <a:t> Rail/clipping prevalence is level-independent (mean file rail share 3.31 % / 3.02 % / 3.65 %), and clip supply only tracks recording length (T3 and T9 dominate).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Not an input-signal effect:</a:t>
            </a:r>
            <a:r>
              <a:rPr b="0">
                <a:solidFill>
                  <a:srgbClr val="3C414B"/>
                </a:solidFill>
              </a:rPr>
              <a:t> The thermal-ROI detection gate is near-uniform across tasks and non-monotonic across groups - the low tasks do not carry more respiration in the pixels either.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Mechanism (hypothesis):</a:t>
            </a:r>
            <a:r>
              <a:rPr b="0">
                <a:solidFill>
                  <a:srgbClr val="3C414B"/>
                </a:solidFill>
              </a:rPr>
              <a:t> The ROI is one static box unioned over the whole clip, so more head motion inflates it and the spatial mean pools pose/background instead of nostril temperature.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Local support:</a:t>
            </a:r>
            <a:r>
              <a:rPr b="0">
                <a:solidFill>
                  <a:srgbClr val="3C414B"/>
                </a:solidFill>
              </a:rPr>
              <a:t> In a 4-subject session-split run only the two low tasks carried signal (T2 +0.69, T3 +0.23; T4-T9 at 0 or negative), and ROI area / landmark jitter track the failure (r ~ -0.5, n = 8 - suggestive, not established).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Why the Thermal Face ROI Does Not Carry 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Off-face winners:</a:t>
            </a:r>
            <a:r>
              <a:rPr b="0">
                <a:solidFill>
                  <a:srgbClr val="3C414B"/>
                </a:solidFill>
              </a:rPr>
              <a:t> The strongest respiration-correlated pixel in the frame sits on the chest, the hair, or a fixed background/rig band - never on the face.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Wrong reference on the face:</a:t>
            </a:r>
            <a:r>
              <a:rPr b="0">
                <a:solidFill>
                  <a:srgbClr val="3C414B"/>
                </a:solidFill>
              </a:rPr>
              <a:t> On the face the strongest correlation is with head motion, not with the respiration belt.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Not the difficulty label:</a:t>
            </a:r>
            <a:r>
              <a:rPr b="0">
                <a:solidFill>
                  <a:srgbClr val="3C414B"/>
                </a:solidFill>
              </a:rPr>
              <a:t> Detection is near-uniform across tasks and non-monotonic across distortion groups, so the task label is not the lever.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Representation-limited input:</a:t>
            </a:r>
            <a:r>
              <a:rPr b="0">
                <a:solidFill>
                  <a:srgbClr val="3C414B"/>
                </a:solidFill>
              </a:rPr>
              <a:t> 8-bit palettised false colour, face near the saturated end, frontal view - the exhaled-air plume has almost no thermal contrast against equally warm skin.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Verdict:</a:t>
            </a:r>
            <a:r>
              <a:rPr b="0">
                <a:solidFill>
                  <a:srgbClr val="3C414B"/>
                </a:solidFill>
              </a:rPr>
              <a:t> A controlled negative for facial thermal respiration at this geometry; the limiting factor is the input, not the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Scientific Qualification of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Implication:</a:t>
            </a:r>
            <a:r>
              <a:rPr b="0">
                <a:solidFill>
                  <a:srgbClr val="3C414B"/>
                </a:solidFill>
              </a:rPr>
              <a:t> A respiration-correlated prediction can reflect motion or the recording setup rather than a robust facial thermal signal.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Evaluation caveat:</a:t>
            </a:r>
            <a:r>
              <a:rPr b="0">
                <a:solidFill>
                  <a:srgbClr val="3C414B"/>
                </a:solidFill>
              </a:rPr>
              <a:t> The reported checkpoint was selected using validation Pearson on the same subject-disjoint split used for the reported evaluation.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Amplitude caveat:</a:t>
            </a:r>
            <a:r>
              <a:rPr b="0">
                <a:solidFill>
                  <a:srgbClr val="3C414B"/>
                </a:solidFill>
              </a:rPr>
              <a:t> The prediction is session-z-scored against a raw-volts reference, so only scale-invariant metrics are valid; amplitude errors need an oracle calibration.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Claim boundary:</a:t>
            </a:r>
            <a:r>
              <a:rPr b="0">
                <a:solidFill>
                  <a:srgbClr val="3C414B"/>
                </a:solidFill>
              </a:rPr>
              <a:t> Present the run as a useful baseline, ablation and failure analysis; do not claim clinical validity or reliable whole-cohort reconstruction.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Why the Negative Is a Measurement, Not a Failure to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Positive control (thermal):</a:t>
            </a:r>
            <a:r>
              <a:rPr b="0">
                <a:solidFill>
                  <a:srgbClr val="3C414B"/>
                </a:solidFill>
              </a:rPr>
              <a:t> The same statistic detects head motion in 8/8 sessions at p&lt;0.005 (|r| up to 0.98), while respiration is not detected in any session.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Palette is not the limit:</a:t>
            </a:r>
            <a:r>
              <a:rPr b="0">
                <a:solidFill>
                  <a:srgbClr val="3C414B"/>
                </a:solidFill>
              </a:rPr>
              <a:t> In-band thermal modulation spans 2.9-36.2 palette levels (far above 1 level), so the render does carry variation.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Resolution is not the limit:</a:t>
            </a:r>
            <a:r>
              <a:rPr b="0">
                <a:solidFill>
                  <a:srgbClr val="3C414B"/>
                </a:solidFill>
              </a:rPr>
              <a:t> Native-resolution and 64 x 64 probes reach the same verdict; downsampling is harmless for a spatially coherent signal.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Positive control (RGB):</a:t>
            </a:r>
            <a:r>
              <a:rPr b="0">
                <a:solidFill>
                  <a:srgbClr val="3C414B"/>
                </a:solidFill>
              </a:rPr>
              <a:t> On the same corpus facial RGB carries a genuine skin-borne cardiac signal (CHROM/POS detected in 35/40 sessions, background control at chance).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Scope:</a:t>
            </a:r>
            <a:r>
              <a:rPr b="0">
                <a:solidFill>
                  <a:srgbClr val="3C414B"/>
                </a:solidFill>
              </a:rPr>
              <a:t> Controls were run on a 4-subject / 8-session subset; the corpus-scale verdict is the subject-level report.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Evaluation: Preliminary Single-Split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4754880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Split:</a:t>
            </a:r>
            <a:r>
              <a:rPr b="0">
                <a:solidFill>
                  <a:srgbClr val="3C414B"/>
                </a:solidFill>
              </a:rPr>
              <a:t> Training, validation and test subjects are strictly disjoint (split_by subject).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Unit of evaluation:</a:t>
            </a:r>
            <a:r>
              <a:rPr b="0">
                <a:solidFill>
                  <a:srgbClr val="3C414B"/>
                </a:solidFill>
              </a:rPr>
              <a:t> A subject; all clips of a session are assembled into one continuous waveform (Hann overlap-add).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Headline metric:</a:t>
            </a:r>
            <a:r>
              <a:rPr b="0">
                <a:solidFill>
                  <a:srgbClr val="3C414B"/>
                </a:solidFill>
              </a:rPr>
              <a:t> Band-limited Pearson (0.1-0.6 Hz), median per subject, against a single-tone template and a constant line.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Known gap:</a:t>
            </a:r>
            <a:r>
              <a:rPr b="0">
                <a:solidFill>
                  <a:srgbClr val="3C414B"/>
                </a:solidFill>
              </a:rPr>
              <a:t> Checkpoint selection and reporting use the same validation split (selection leakage).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500"/>
            </a:pPr>
            <a:r>
              <a:rPr b="1">
                <a:solidFill>
                  <a:srgbClr val="0A0F19"/>
                </a:solidFill>
              </a:rPr>
              <a:t>Next eval step:</a:t>
            </a:r>
            <a:r>
              <a:rPr b="0">
                <a:solidFill>
                  <a:srgbClr val="3C414B"/>
                </a:solidFill>
              </a:rPr>
              <a:t> Separate selection from reporting (--test_subjects) and run the leave-one-subject-out sweep; k-fold is the follow-up.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137160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Single subject-disjoint test split and baseline comparison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experiments/figures/evaluation_protocol.png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Roadmap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05564"/>
                </a:solidFill>
              </a:defRPr>
            </a:pPr>
            <a:r>
              <a:t>Completed -&gt; ongoing -&gt; planned</a:t>
            </a:r>
          </a:p>
          <a:p>
            <a:pPr algn="ctr">
              <a:defRPr sz="950" i="1">
                <a:solidFill>
                  <a:srgbClr val="8C91A0"/>
                </a:solidFill>
              </a:defRPr>
            </a:pPr>
            <a:r>
              <a:t>Datei: experiments/figures/timeline_gantt.png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Interim Conclusions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Achieved:</a:t>
            </a:r>
            <a:r>
              <a:rPr b="0">
                <a:solidFill>
                  <a:srgbClr val="3C414B"/>
                </a:solidFill>
              </a:rPr>
              <a:t> The first complete full-corpus HPC run for TIR-ROI -&gt; respiration (Stage 2 + Stage 3).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Finding:</a:t>
            </a:r>
            <a:r>
              <a:rPr b="0">
                <a:solidFill>
                  <a:srgbClr val="3C414B"/>
                </a:solidFill>
              </a:rPr>
              <a:t> The median rhythm score edges the single-tone baseline only marginally (0.569 vs. 0.535) and half the cohort does not beat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Mechanism:</a:t>
            </a:r>
            <a:r>
              <a:rPr b="0">
                <a:solidFill>
                  <a:srgbClr val="3C414B"/>
                </a:solidFill>
              </a:rPr>
              <a:t> Whole-frame wins are off-face (chest / hair / rig); on the face the dominant reference is head motion, not the belt.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Ongoing A/B:</a:t>
            </a:r>
            <a:r>
              <a:rPr b="0">
                <a:solidFill>
                  <a:srgbClr val="3C414B"/>
                </a:solidFill>
              </a:rPr>
              <a:t> Point-wise SmoothL1 instead of the amplitude-only StdLoss (same encoder, geometry and schedule) - tests whether the near-single-tone collapse is a loss artefact or an input limit.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Infrastructure:</a:t>
            </a:r>
            <a:r>
              <a:rPr b="0">
                <a:solidFill>
                  <a:srgbClr val="3C414B"/>
                </a:solidFill>
              </a:rPr>
              <a:t> The offline TIR-ROI cache makes the full-corpus run compute-bound rather than decode-bound.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1">
                <a:solidFill>
                  <a:srgbClr val="0A0F19"/>
                </a:solidFill>
              </a:rPr>
              <a:t>Next step:</a:t>
            </a:r>
            <a:r>
              <a:rPr b="0">
                <a:solidFill>
                  <a:srgbClr val="3C414B"/>
                </a:solidFill>
              </a:rPr>
              <a:t> Separate checkpoint selection from reporting and run the LOSO sweep; k-fold cross-validation is the follow-up.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0152" cy="45720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[1] K. He, X. Chen, S. Xie, Y. Li, P. Dollár, and R. Girshick, 'Masked Autoencoders Are Scalable Vision Learners,' CVPR, 2022.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[2] R. Bachmann, D. Mizrahi, A. Atanov, and A. Zamir, 'MultiMAE: Multi-modal Multi-task Masked Autoencoders,' ECCV, 2022.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/>
            </a:pPr>
            <a:r>
              <a:rPr b="0">
                <a:solidFill>
                  <a:srgbClr val="3C414B"/>
                </a:solidFill>
              </a:rPr>
              <a:t>[3] Z. Zhang et al., 'Multimodal Spontaneous Emotion Corpus (BP4D+),' IEEE FG, 2016.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515600" cy="731520"/>
          </a:xfrm>
        </p:spPr>
        <p:txBody>
          <a:bodyPr wrap="square" anchor="t"/>
          <a:lstStyle/>
          <a:p>
            <a:pPr algn="l">
              <a:defRPr sz="2400" b="1">
                <a:solidFill>
                  <a:srgbClr val="141923"/>
                </a:solidFill>
              </a:defRPr>
            </a:pPr>
            <a:r>
              <a:t>Appendix: Current and Planned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HPC Full Run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923"/>
                          </a:solidFill>
                        </a:defRPr>
                      </a:pPr>
                      <a:r>
                        <a:t>Evaluation Status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112 x 112 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Matched Stage-2/Stage-3 geometry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Clip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8 s, 100 Hz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Time-aligned waveform 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Stage-2 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checkpoint-0149.pth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Used for Stage-3 fine-tuning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28 held-out 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Evaluated once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Cross-validation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Not performed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LOSO sweep is the next step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Signal normalisation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physio_norm: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Whole-session z-score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Clip hygiene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rail_touch 9.90 V; spread 0.1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Drops railed / pinned windows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Task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low / moderate /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T2-T3 / T4,T7,T8,T10 / T1,T5,T6,T9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L_time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StdLoss (reported 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SmoothL1 A/B arm in progress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ROI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1,385 shards / 91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741"/>
                          </a:solidFill>
                        </a:defRPr>
                      </a:pPr>
                      <a:r>
                        <a:t>Decode-bound -&gt; compute-bound; serves Stage 2 and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153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Template</vt:lpstr>
      <vt:lpstr>Titel</vt:lpstr>
      <vt:lpstr>PowerPoint Presentation</vt:lpstr>
      <vt:lpstr>Hinweise</vt:lpstr>
      <vt:lpstr>Hinweise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td38heni</cp:lastModifiedBy>
  <cp:revision>4</cp:revision>
  <dcterms:created xsi:type="dcterms:W3CDTF">2023-05-22T13:03:01Z</dcterms:created>
  <dcterms:modified xsi:type="dcterms:W3CDTF">2026-03-06T15:10:12Z</dcterms:modified>
</cp:coreProperties>
</file>